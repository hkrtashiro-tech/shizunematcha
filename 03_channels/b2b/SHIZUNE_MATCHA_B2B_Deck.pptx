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Tagline: A Moment of Serenity. Premium wholesale intro for cafés and specialty retail. Key visual to be added behind the enso motif.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822960"/>
            <a:ext cx="5120640" cy="5120640"/>
          </a:xfrm>
          <a:prstGeom prst="ellipse">
            <a:avLst/>
          </a:prstGeom>
          <a:solidFill>
            <a:srgbClr val="232B23"/>
          </a:solidFill>
          <a:ln w="28575">
            <a:solidFill>
              <a:srgbClr val="4760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645920"/>
            <a:ext cx="3474720" cy="3474720"/>
          </a:xfrm>
          <a:prstGeom prst="ellipse">
            <a:avLst/>
          </a:prstGeom>
          <a:solidFill>
            <a:srgbClr val="232B23"/>
          </a:solidFill>
          <a:ln w="101600">
            <a:solidFill>
              <a:srgbClr val="2E38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6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Moment</a:t>
            </a:r>
            <a:endParaRPr lang="en-US" sz="6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Serenity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Japanese Matcha  ·  Single-Origin, Shizuoka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3703320" cy="566928"/>
          </a:xfrm>
          <a:prstGeom prst="roundRect">
            <a:avLst>
              <a:gd name="adj" fmla="val 50000"/>
            </a:avLst>
          </a:prstGeom>
          <a:solidFill>
            <a:srgbClr val="5E7A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3703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&amp; Partnership Program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Asia   ·   shizunematcha.com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6492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contemporary Japanese</a:t>
            </a:r>
            <a:endParaRPr lang="en-US" sz="3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matcha brand — built on</a:t>
            </a:r>
            <a:endParaRPr lang="en-US" sz="3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stillness, not noise.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(静音) means “the sound of silence.” We make matcha for the modern moment of pause — the quiet ritual within a busy day.
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08736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souvenir. Not a commodity.  </a:t>
            </a:r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considered, contemporary Japanese premium brand.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773168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65429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for discerning customers  </a:t>
            </a:r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value quality, provenance, and a calm, elevated everyday.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40096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22122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 to display with pride  </a:t>
            </a:r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your customers connect with — and come back to.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0" y="1143000"/>
            <a:ext cx="3794760" cy="4663440"/>
          </a:xfrm>
          <a:prstGeom prst="roundRect">
            <a:avLst>
              <a:gd name="adj" fmla="val 2410"/>
            </a:avLst>
          </a:prstGeom>
          <a:solidFill>
            <a:srgbClr val="232B23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2148840"/>
            <a:ext cx="2743200" cy="2743200"/>
          </a:xfrm>
          <a:prstGeom prst="ellipse">
            <a:avLst/>
          </a:prstGeom>
          <a:solidFill>
            <a:srgbClr val="232B23"/>
          </a:solidFill>
          <a:ln w="28575">
            <a:solidFill>
              <a:srgbClr val="5E7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274320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静</a:t>
            </a:r>
            <a:endParaRPr lang="en-US" sz="9600" dirty="0"/>
          </a:p>
        </p:txBody>
      </p:sp>
      <p:sp>
        <p:nvSpPr>
          <p:cNvPr id="16" name="Text 14"/>
          <p:cNvSpPr/>
          <p:nvPr/>
        </p:nvSpPr>
        <p:spPr>
          <a:xfrm>
            <a:off x="7772400" y="50749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shizuka — stillness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origin. One standard. Shizuoka.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blended matcha of mixed or unnamed origin, SHIZUNE is sourced from a single region — Shizuoka, one of Japan’s most respected tea terroirs.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3246120"/>
            <a:ext cx="640080" cy="64008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6618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Traceable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663440"/>
            <a:ext cx="2661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origin, one supply chain — consistent from lot to lot.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99178" y="2880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64938" y="3246120"/>
            <a:ext cx="640080" cy="64008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4" name="Text 12"/>
          <p:cNvSpPr/>
          <p:nvPr/>
        </p:nvSpPr>
        <p:spPr>
          <a:xfrm>
            <a:off x="4764938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64938" y="4114800"/>
            <a:ext cx="26618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764938" y="4663440"/>
            <a:ext cx="2661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flavour profile and colour your menu and shelf can rely 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58277" y="2880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24037" y="3246120"/>
            <a:ext cx="640080" cy="64008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9" name="Text 17"/>
          <p:cNvSpPr/>
          <p:nvPr/>
        </p:nvSpPr>
        <p:spPr>
          <a:xfrm>
            <a:off x="8524037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524037" y="4114800"/>
            <a:ext cx="26618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524037" y="4663440"/>
            <a:ext cx="2661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Japanese — not a generic “Japanese-style” product.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Shizuoka?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Japan’s most celebrated tea region — at the foot of Mt. Fuji.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5212080" cy="3611880"/>
          </a:xfrm>
          <a:prstGeom prst="roundRect">
            <a:avLst>
              <a:gd name="adj" fmla="val 2025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40280" y="3108960"/>
            <a:ext cx="1737360" cy="1234440"/>
          </a:xfrm>
          <a:prstGeom prst="triangle">
            <a:avLst/>
          </a:prstGeom>
          <a:solidFill>
            <a:srgbClr val="9DAE8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3108960"/>
            <a:ext cx="512064" cy="38404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953512" y="4462272"/>
            <a:ext cx="713232" cy="713232"/>
          </a:xfrm>
          <a:prstGeom prst="ellipse">
            <a:avLst/>
          </a:prstGeom>
          <a:solidFill>
            <a:srgbClr val="F6F4EC"/>
          </a:solidFill>
          <a:ln w="19050">
            <a:solidFill>
              <a:srgbClr val="5E7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82112" y="4690872"/>
            <a:ext cx="292608" cy="29260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4526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Shizuoka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3566160"/>
            <a:ext cx="146304" cy="146304"/>
          </a:xfrm>
          <a:prstGeom prst="ellipse">
            <a:avLst/>
          </a:prstGeom>
          <a:solidFill>
            <a:srgbClr val="70776B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32918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4846320"/>
            <a:ext cx="146304" cy="146304"/>
          </a:xfrm>
          <a:prstGeom prst="ellipse">
            <a:avLst/>
          </a:prstGeom>
          <a:solidFill>
            <a:srgbClr val="70776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5720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Kyoto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5486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coast  ·  Central Japan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368296"/>
            <a:ext cx="402336" cy="40233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0" y="2286000"/>
            <a:ext cx="4510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Japan, Pacific coast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40880" y="2642616"/>
            <a:ext cx="44650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Tokyo and Kyoto, at the foot of Mt. Fuji — about 1.5 hours from Tokyo.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46520" y="3282696"/>
            <a:ext cx="402336" cy="40233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0" y="3200400"/>
            <a:ext cx="4510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heritage of tea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557016"/>
            <a:ext cx="44650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Japan’s oldest and most renowned tea-growing regions, cultivated for centuries.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46520" y="4197096"/>
            <a:ext cx="402336" cy="40233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4114800"/>
            <a:ext cx="4510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Ideal terroir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40880" y="4471416"/>
            <a:ext cx="44650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Misty mountain slopes, a mild maritime climate, and well-drained volcanic soil.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46520" y="5111496"/>
            <a:ext cx="402336" cy="40233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5029200"/>
            <a:ext cx="4510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 buyers trust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040880" y="5385816"/>
            <a:ext cx="44650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Japan, “Shizuoka” is synonymous with quality tea.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CRAFT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Shade-grown leaves, finely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milled to a smooth matcha.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E7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7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41148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Shade-grown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11680" y="3497580"/>
            <a:ext cx="1554480" cy="0"/>
          </a:xfrm>
          <a:prstGeom prst="line">
            <a:avLst/>
          </a:prstGeom>
          <a:noFill/>
          <a:ln w="19050">
            <a:solidFill>
              <a:srgbClr val="9DAE8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886200" y="297180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E7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29718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7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520440" y="41148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Finely milled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57800" y="3497580"/>
            <a:ext cx="1554480" cy="0"/>
          </a:xfrm>
          <a:prstGeom prst="line">
            <a:avLst/>
          </a:prstGeom>
          <a:noFill/>
          <a:ln w="19050">
            <a:solidFill>
              <a:srgbClr val="9DAE8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7132320" y="297180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E7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29718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7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766560" y="41148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for freshness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911535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12064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0120" y="5413248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Ceremonial-grade — smooth umami, clean finish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97298" y="512064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LIFE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97298" y="5413248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from production, sealed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34477" y="512064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4477" y="5413248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documentation available on request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LINEUP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formats. One standard of quality.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232B23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377440"/>
            <a:ext cx="440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FOODSERVICE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" y="2697480"/>
            <a:ext cx="440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Bulk Ceremonial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33756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matcha powder, sold by the kilogram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97280" y="4041648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3904488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hot &amp; iced lattes, desserts, seasonal specials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97280" y="4608576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471416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premium, single-origin story on your menu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35928" y="2377440"/>
            <a:ext cx="440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RETAIL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35928" y="2697480"/>
            <a:ext cx="440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Finished SKUs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781648" y="3429000"/>
            <a:ext cx="777240" cy="77724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81648" y="3474720"/>
            <a:ext cx="777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41768" y="3593592"/>
            <a:ext cx="330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  </a:t>
            </a:r>
            <a:pPr indent="0" marL="0">
              <a:buNone/>
            </a:pPr>
            <a:r>
              <a:rPr lang="en-US" sz="13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Premium, gift-ready format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781648" y="4251960"/>
            <a:ext cx="777240" cy="77724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6781648" y="4297680"/>
            <a:ext cx="777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741768" y="4416552"/>
            <a:ext cx="330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Pouch  </a:t>
            </a:r>
            <a:pPr indent="0" marL="0">
              <a:buNone/>
            </a:pPr>
            <a:r>
              <a:rPr lang="en-US" sz="13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Everyday value format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grades and an organic line: in development.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SHIZUNE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commodity matcha.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651760" y="2011680"/>
            <a:ext cx="4358488" cy="475488"/>
          </a:xfrm>
          <a:prstGeom prst="roundRect">
            <a:avLst>
              <a:gd name="adj" fmla="val 9615"/>
            </a:avLst>
          </a:prstGeom>
          <a:solidFill>
            <a:srgbClr val="2E382C"/>
          </a:solidFill>
          <a:ln/>
        </p:spPr>
      </p:sp>
      <p:sp>
        <p:nvSpPr>
          <p:cNvPr id="8" name="Text 6"/>
          <p:cNvSpPr/>
          <p:nvPr/>
        </p:nvSpPr>
        <p:spPr>
          <a:xfrm>
            <a:off x="2651760" y="1965960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matcha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01688" y="2011680"/>
            <a:ext cx="4449928" cy="475488"/>
          </a:xfrm>
          <a:prstGeom prst="roundRect">
            <a:avLst>
              <a:gd name="adj" fmla="val 9615"/>
            </a:avLst>
          </a:prstGeom>
          <a:solidFill>
            <a:srgbClr val="5E7A3C"/>
          </a:solidFill>
          <a:ln/>
        </p:spPr>
      </p:sp>
      <p:sp>
        <p:nvSpPr>
          <p:cNvPr id="10" name="Text 8"/>
          <p:cNvSpPr/>
          <p:nvPr/>
        </p:nvSpPr>
        <p:spPr>
          <a:xfrm>
            <a:off x="7101688" y="1965960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53288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51760" y="2532888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/ unnamed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01688" y="2569464"/>
            <a:ext cx="4449928" cy="493776"/>
          </a:xfrm>
          <a:prstGeom prst="roundRect">
            <a:avLst>
              <a:gd name="adj" fmla="val 9259"/>
            </a:avLst>
          </a:prstGeom>
          <a:solidFill>
            <a:srgbClr val="2E382C"/>
          </a:solidFill>
          <a:ln/>
        </p:spPr>
      </p:sp>
      <p:sp>
        <p:nvSpPr>
          <p:cNvPr id="14" name="Text 12"/>
          <p:cNvSpPr/>
          <p:nvPr/>
        </p:nvSpPr>
        <p:spPr>
          <a:xfrm>
            <a:off x="7101688" y="2532888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Single-origin Shizuoka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099816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51760" y="3099816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101688" y="3136392"/>
            <a:ext cx="4449928" cy="493776"/>
          </a:xfrm>
          <a:prstGeom prst="roundRect">
            <a:avLst>
              <a:gd name="adj" fmla="val 9259"/>
            </a:avLst>
          </a:prstGeom>
          <a:solidFill>
            <a:srgbClr val="2E382C"/>
          </a:solidFill>
          <a:ln/>
        </p:spPr>
      </p:sp>
      <p:sp>
        <p:nvSpPr>
          <p:cNvPr id="18" name="Text 16"/>
          <p:cNvSpPr/>
          <p:nvPr/>
        </p:nvSpPr>
        <p:spPr>
          <a:xfrm>
            <a:off x="7101688" y="3099816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Contemporary Japanese premium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3666744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51760" y="3666744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01688" y="3703320"/>
            <a:ext cx="4449928" cy="493776"/>
          </a:xfrm>
          <a:prstGeom prst="roundRect">
            <a:avLst>
              <a:gd name="adj" fmla="val 9259"/>
            </a:avLst>
          </a:prstGeom>
          <a:solidFill>
            <a:srgbClr val="2E382C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688" y="3666744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 customers connect with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1520" y="423367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651760" y="4233672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 batch to batch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01688" y="4270248"/>
            <a:ext cx="4449928" cy="493776"/>
          </a:xfrm>
          <a:prstGeom prst="roundRect">
            <a:avLst>
              <a:gd name="adj" fmla="val 9259"/>
            </a:avLst>
          </a:prstGeom>
          <a:solidFill>
            <a:srgbClr val="2E382C"/>
          </a:solidFill>
          <a:ln/>
        </p:spPr>
      </p:sp>
      <p:sp>
        <p:nvSpPr>
          <p:cNvPr id="26" name="Text 24"/>
          <p:cNvSpPr/>
          <p:nvPr/>
        </p:nvSpPr>
        <p:spPr>
          <a:xfrm>
            <a:off x="7101688" y="4233672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lot to lot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480060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651760" y="4800600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on price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101688" y="4837176"/>
            <a:ext cx="4449928" cy="493776"/>
          </a:xfrm>
          <a:prstGeom prst="roundRect">
            <a:avLst>
              <a:gd name="adj" fmla="val 9259"/>
            </a:avLst>
          </a:prstGeom>
          <a:solidFill>
            <a:srgbClr val="2E382C"/>
          </a:solidFill>
          <a:ln/>
        </p:spPr>
      </p:sp>
      <p:sp>
        <p:nvSpPr>
          <p:cNvPr id="30" name="Text 28"/>
          <p:cNvSpPr/>
          <p:nvPr/>
        </p:nvSpPr>
        <p:spPr>
          <a:xfrm>
            <a:off x="7101688" y="4800600"/>
            <a:ext cx="4449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positioning &amp; margin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AE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SHIZUNE helps you sell matcha at a premium — not compete on price.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CAFÉS &amp; FOODSERVICE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signature matcha menu,</a:t>
            </a:r>
            <a:endParaRPr lang="en-US" sz="3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margins to match.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496312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Versatile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Hot &amp; iced matcha lattes, desserts, seasonal specials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24612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story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“Single-origin Shizuoka matcha” on your menu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33088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995928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 economics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low per-cup cost supports healthy menu margins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663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760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S$0.18–0.21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840480" y="52303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cost per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(2g / cup)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0" y="1371600"/>
            <a:ext cx="4236415" cy="4800600"/>
          </a:xfrm>
          <a:prstGeom prst="roundRect">
            <a:avLst>
              <a:gd name="adj" fmla="val 2158"/>
            </a:avLst>
          </a:prstGeom>
          <a:solidFill>
            <a:srgbClr val="232B23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691640"/>
            <a:ext cx="3504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— BULK CEREMONIAL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680960" y="2011680"/>
            <a:ext cx="3504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kilogram (SGD)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80960" y="26517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4 kg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722815" y="2651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S$105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680960" y="3218688"/>
            <a:ext cx="3504895" cy="0"/>
          </a:xfrm>
          <a:prstGeom prst="line">
            <a:avLst/>
          </a:prstGeom>
          <a:noFill/>
          <a:ln w="12700">
            <a:solidFill>
              <a:srgbClr val="2E38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0" y="33101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– 19 kg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22815" y="33101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S$97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680960" y="3877056"/>
            <a:ext cx="3504895" cy="0"/>
          </a:xfrm>
          <a:prstGeom prst="line">
            <a:avLst/>
          </a:prstGeom>
          <a:noFill/>
          <a:ln w="12700">
            <a:solidFill>
              <a:srgbClr val="2E3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3968496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kg +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22815" y="396849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S$91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680960" y="5349240"/>
            <a:ext cx="3504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MOQ 1 kg · price only, shipping not included · approx., subject to FX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RETAIL &amp; SPECIALTY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shelf presence customers</a:t>
            </a:r>
            <a:endParaRPr lang="en-US" sz="3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for — and remember.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496312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Elevates your shelf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Design-led, premium packaging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24612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sells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Single-origin provenance, a modern Japanese brand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33088"/>
            <a:ext cx="128016" cy="128016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995928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Gifting-ready  </a:t>
            </a:r>
            <a:pPr indent="0" marL="0">
              <a:buNone/>
            </a:pPr>
            <a:r>
              <a:rPr lang="en-US" sz="13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40g tin is a natural premium gift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59436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206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TERMS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539496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pack: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units / case
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order: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cases (mixed OK) · reorder from 1 case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1371600"/>
            <a:ext cx="4236415" cy="4800600"/>
          </a:xfrm>
          <a:prstGeom prst="roundRect">
            <a:avLst>
              <a:gd name="adj" fmla="val 2158"/>
            </a:avLst>
          </a:prstGeom>
          <a:solidFill>
            <a:srgbClr val="232B23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691640"/>
            <a:ext cx="3504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— FINISHED SKUs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680960" y="2011680"/>
            <a:ext cx="3504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unit (SGD)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80960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40g Tin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31375" y="27432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S$19.5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680960" y="3401568"/>
            <a:ext cx="3504895" cy="0"/>
          </a:xfrm>
          <a:prstGeom prst="line">
            <a:avLst/>
          </a:prstGeom>
          <a:noFill/>
          <a:ln w="12700">
            <a:solidFill>
              <a:srgbClr val="2E38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0" y="3611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80g Pouch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31375" y="36118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S$35.4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680960" y="5349240"/>
            <a:ext cx="3504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in SGD, converted from JPY (S$1 ≈ ¥113) · subject to FX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TERMS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terms to get started.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240280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2402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139696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MOQ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2468880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Bulk: 1 kg   ·   Finished SKUs: 3 cases (opening order)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44488" y="2240280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3" name="Text 11"/>
          <p:cNvSpPr/>
          <p:nvPr/>
        </p:nvSpPr>
        <p:spPr>
          <a:xfrm>
            <a:off x="6644488" y="22402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421728" y="2139696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21728" y="2468880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units per case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685032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37360" y="3584448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913632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SKUs: 10 days   ·   Bulk: 2–3 weeks (made to order)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24448" y="3364992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4488" y="3685032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3" name="Text 21"/>
          <p:cNvSpPr/>
          <p:nvPr/>
        </p:nvSpPr>
        <p:spPr>
          <a:xfrm>
            <a:off x="6644488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21728" y="3584448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21728" y="3913632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(Singapore): DDP, free over S$800   ·   Bulk: FOB Japan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809744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5129784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51297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737360" y="5029200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737360" y="5358384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payment (T/T) — production begins on confirmation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24448" y="4809744"/>
            <a:ext cx="5227168" cy="1188720"/>
          </a:xfrm>
          <a:prstGeom prst="roundRect">
            <a:avLst>
              <a:gd name="adj" fmla="val 6154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4488" y="5129784"/>
            <a:ext cx="566928" cy="5669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3" name="Text 31"/>
          <p:cNvSpPr/>
          <p:nvPr/>
        </p:nvSpPr>
        <p:spPr>
          <a:xfrm>
            <a:off x="6644488" y="51297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421728" y="5029200"/>
            <a:ext cx="394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76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421728" y="5358384"/>
            <a:ext cx="39012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Complimentary for qualified buyers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60533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prices in SGD, subject to FX.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&amp; TRACTION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trusted by customers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markets.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39333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3200400"/>
            <a:ext cx="2753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760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27532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Amazon US — selling to US consumers today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2926080"/>
            <a:ext cx="339333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19218" y="3200400"/>
            <a:ext cx="2753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760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19218" y="4069080"/>
            <a:ext cx="27532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direct-to-consumer at shizunematcha.com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926080"/>
            <a:ext cx="339333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8317" y="3200400"/>
            <a:ext cx="2753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760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Traverse Asia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78317" y="4069080"/>
            <a:ext cx="27532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Japan-focused brand company behind SHIZUNE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reviews &amp; ratings available on request.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67512"/>
            <a:ext cx="109728" cy="109728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603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820095" y="502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first sample to first order — in four steps.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453564" cy="3200400"/>
          </a:xfrm>
          <a:prstGeom prst="roundRect">
            <a:avLst>
              <a:gd name="adj" fmla="val 29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3942" y="2697480"/>
            <a:ext cx="1005840" cy="1005840"/>
          </a:xfrm>
          <a:prstGeom prst="ellipse">
            <a:avLst/>
          </a:prstGeom>
          <a:solidFill>
            <a:srgbClr val="232B23"/>
          </a:solidFill>
          <a:ln/>
        </p:spPr>
      </p:sp>
      <p:sp>
        <p:nvSpPr>
          <p:cNvPr id="8" name="Text 6"/>
          <p:cNvSpPr/>
          <p:nvPr/>
        </p:nvSpPr>
        <p:spPr>
          <a:xfrm>
            <a:off x="1363942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Inquiry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89120"/>
            <a:ext cx="19415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your format (café or retail) and expected volume.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11932" y="2926080"/>
            <a:ext cx="329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59404" y="2377440"/>
            <a:ext cx="2453564" cy="3200400"/>
          </a:xfrm>
          <a:prstGeom prst="roundRect">
            <a:avLst>
              <a:gd name="adj" fmla="val 29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266" y="2697480"/>
            <a:ext cx="1005840" cy="1005840"/>
          </a:xfrm>
          <a:prstGeom prst="ellipse">
            <a:avLst/>
          </a:prstGeom>
          <a:solidFill>
            <a:srgbClr val="232B23"/>
          </a:solidFill>
          <a:ln/>
        </p:spPr>
      </p:sp>
      <p:sp>
        <p:nvSpPr>
          <p:cNvPr id="14" name="Text 12"/>
          <p:cNvSpPr/>
          <p:nvPr/>
        </p:nvSpPr>
        <p:spPr>
          <a:xfrm>
            <a:off x="4183266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642284" y="388620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15436" y="4389120"/>
            <a:ext cx="19415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complimentary samples for you to evaluate.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1256" y="2926080"/>
            <a:ext cx="329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78728" y="2377440"/>
            <a:ext cx="2453564" cy="3200400"/>
          </a:xfrm>
          <a:prstGeom prst="roundRect">
            <a:avLst>
              <a:gd name="adj" fmla="val 29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02590" y="2697480"/>
            <a:ext cx="1005840" cy="1005840"/>
          </a:xfrm>
          <a:prstGeom prst="ellipse">
            <a:avLst/>
          </a:prstGeom>
          <a:solidFill>
            <a:srgbClr val="232B23"/>
          </a:solidFill>
          <a:ln/>
        </p:spPr>
      </p:sp>
      <p:sp>
        <p:nvSpPr>
          <p:cNvPr id="20" name="Text 18"/>
          <p:cNvSpPr/>
          <p:nvPr/>
        </p:nvSpPr>
        <p:spPr>
          <a:xfrm>
            <a:off x="700259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461608" y="388620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34760" y="4389120"/>
            <a:ext cx="19415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confirm pricing, terms, and lead time.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50579" y="2926080"/>
            <a:ext cx="329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98051" y="2377440"/>
            <a:ext cx="2453564" cy="3200400"/>
          </a:xfrm>
          <a:prstGeom prst="roundRect">
            <a:avLst>
              <a:gd name="adj" fmla="val 2981"/>
            </a:avLst>
          </a:prstGeom>
          <a:solidFill>
            <a:srgbClr val="F6F4EC"/>
          </a:solidFill>
          <a:ln w="12700">
            <a:solidFill>
              <a:srgbClr val="E2DF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21913" y="2697480"/>
            <a:ext cx="1005840" cy="1005840"/>
          </a:xfrm>
          <a:prstGeom prst="ellipse">
            <a:avLst/>
          </a:prstGeom>
          <a:solidFill>
            <a:srgbClr val="5E7A3C"/>
          </a:solidFill>
          <a:ln/>
        </p:spPr>
      </p:sp>
      <p:sp>
        <p:nvSpPr>
          <p:cNvPr id="26" name="Text 24"/>
          <p:cNvSpPr/>
          <p:nvPr/>
        </p:nvSpPr>
        <p:spPr>
          <a:xfrm>
            <a:off x="9821913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9280931" y="388620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Order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354083" y="4389120"/>
            <a:ext cx="19415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 by T/T; we produce and ship (finished SKUs ≈ 10 days).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  ·  Traverse Asia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80841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07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914400"/>
            <a:ext cx="4937760" cy="4937760"/>
          </a:xfrm>
          <a:prstGeom prst="ellipse">
            <a:avLst/>
          </a:prstGeom>
          <a:solidFill>
            <a:srgbClr val="232B23"/>
          </a:solidFill>
          <a:ln w="28575">
            <a:solidFill>
              <a:srgbClr val="4760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1645920"/>
            <a:ext cx="3474720" cy="3474720"/>
          </a:xfrm>
          <a:prstGeom prst="ellipse">
            <a:avLst/>
          </a:prstGeom>
          <a:solidFill>
            <a:srgbClr val="232B23"/>
          </a:solidFill>
          <a:ln w="101600">
            <a:solidFill>
              <a:srgbClr val="2E38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build a quiet, premium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matcha offering together.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 MATCHA</a:t>
            </a:r>
            <a:pPr indent="0" marL="0">
              <a:buNone/>
            </a:pPr>
            <a:r>
              <a:rPr lang="en-US" sz="15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operated by Traverse Asia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Japan-based brand company building contemporary Japanese premium products for global markets.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Hikaru Tashiro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Brand Owner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6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hikaru.tashiro@traverse-asia.com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DA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shizunematcha.com  ·  traverse-asia.com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2468880" cy="548640"/>
          </a:xfrm>
          <a:prstGeom prst="roundRect">
            <a:avLst>
              <a:gd name="adj" fmla="val 50000"/>
            </a:avLst>
          </a:prstGeom>
          <a:solidFill>
            <a:srgbClr val="5E7A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9436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samples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Traverse Asia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SHIZUNE MATCHA — Wholesale &amp; Partnership</dc:title>
  <dc:subject>PptxGenJS Presentation</dc:subject>
  <dc:creator>Traverse Asia</dc:creator>
  <cp:lastModifiedBy>Traverse Asia</cp:lastModifiedBy>
  <cp:revision>1</cp:revision>
  <dcterms:created xsi:type="dcterms:W3CDTF">2026-08-21T12:52:24Z</dcterms:created>
  <dcterms:modified xsi:type="dcterms:W3CDTF">2026-08-21T12:52:24Z</dcterms:modified>
</cp:coreProperties>
</file>