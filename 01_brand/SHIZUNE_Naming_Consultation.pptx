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8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gp/product/B0FR4MFY3B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hizunematcha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4A0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800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SHIZUNE MATCHA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Naming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overview, grade naming structure, and label text discussion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2286000" cy="27432"/>
          </a:xfrm>
          <a:prstGeom prst="rect">
            <a:avLst/>
          </a:prstGeom>
          <a:solidFill>
            <a:srgbClr val="C4A0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3657600" cy="54864"/>
          </a:xfrm>
          <a:prstGeom prst="rect">
            <a:avLst/>
          </a:prstGeom>
          <a:solidFill>
            <a:srgbClr val="C4A0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Philosophy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4A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Stillness / Serenity / Elegance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(静音) is a premium Japanese matcha brand built on the concept of quiet elegance. Not a commodity tea product, but a contemporary Japanese premium brand.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63040"/>
            <a:ext cx="3657600" cy="54864"/>
          </a:xfrm>
          <a:prstGeom prst="rect">
            <a:avLst/>
          </a:prstGeom>
          <a:solidFill>
            <a:srgbClr val="C4A04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&amp; Positioning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Market: </a:t>
            </a:r>
            <a:b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(now on sale)</a:t>
            </a:r>
            <a:b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Canada&amp;Singapore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(soon)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Audience: 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Health-conscious, design-savvy consumers who value authenticity over price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Range: 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 – $44 (40g)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US, Shopify DTC</a:t>
            </a:r>
          </a:p>
          <a:p>
            <a:pPr marL="0" indent="0">
              <a:buNone/>
            </a:pPr>
            <a:endParaRPr lang="en-US" sz="12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3605429-D3A3-EE47-C32D-04BD7917CCBE}"/>
              </a:ext>
            </a:extLst>
          </p:cNvPr>
          <p:cNvSpPr txBox="1"/>
          <p:nvPr/>
        </p:nvSpPr>
        <p:spPr>
          <a:xfrm>
            <a:off x="4937760" y="4036070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https://www.amazon.com/gp/product/B0FR4MFY3B</a:t>
            </a:r>
            <a:endParaRPr lang="en-US" altLang="ja-JP" sz="11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ja-JP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https://shizunematcha.com/</a:t>
            </a:r>
            <a:endParaRPr lang="en-US" altLang="ja-JP" sz="11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LINEUP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54864"/>
          </a:xfrm>
          <a:prstGeom prst="rect">
            <a:avLst/>
          </a:prstGeom>
          <a:solidFill>
            <a:srgbClr val="C4A04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Grade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A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Shizuoka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 / 40g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daily matcha.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 selected quality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everyday enjoyment.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40g can / 80g bag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468880" cy="320040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463040"/>
            <a:ext cx="24688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 Grade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B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Kagoshima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 / 40g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0332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reserve matcha.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flavor and aroma.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Considering Organic.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40g can / 80g bag (TBD)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468880" cy="3200400"/>
          </a:xfrm>
          <a:prstGeom prst="rect">
            <a:avLst/>
          </a:prstGeom>
          <a:solidFill>
            <a:srgbClr val="111111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463040"/>
            <a:ext cx="2468880" cy="54864"/>
          </a:xfrm>
          <a:prstGeom prst="rect">
            <a:avLst/>
          </a:prstGeom>
          <a:solidFill>
            <a:srgbClr val="C4A044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Prestige Grade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B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Uji, Kyoto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 / 40g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4652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pinnacle of matcha.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tradition and prestige.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Small-batch excellence.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40g can only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 NAMING RATIONALE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960120"/>
          </a:xfrm>
          <a:prstGeom prst="rect">
            <a:avLst/>
          </a:prstGeom>
          <a:solidFill>
            <a:srgbClr val="C4A044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0" y="144475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"Carefully chosen." Communicates quality commitment while naturally implying that higher tiers exist above it.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4A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from "Essential" after Amazon reviews showed customers misread it as "basic = low quality."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423160"/>
            <a:ext cx="54864" cy="960120"/>
          </a:xfrm>
          <a:prstGeom prst="rect">
            <a:avLst/>
          </a:prstGeom>
          <a:solidFill>
            <a:srgbClr val="C4A04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24963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understood in the wine &amp; spirits industry. American consumers intuitively recognize it as "a cut above standard."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9718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4A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to US consumers from wine labels (e.g., Reserve Cabernet).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474720"/>
            <a:ext cx="54864" cy="960120"/>
          </a:xfrm>
          <a:prstGeom prst="rect">
            <a:avLst/>
          </a:prstGeom>
          <a:solidFill>
            <a:srgbClr val="C4A044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Prestige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60320" y="35478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signals the highest tier. Matches the historical prestige of Uji matcha and its centuries-old reputation.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40233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4A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is the birthplace of Japanese tea culture.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297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A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Do these grade names feel natural and intuitive to a US consumer? Any concerns?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 ALTERNATIVES CONSIDERED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2926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F0E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Candidate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F0E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Considered For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F0E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Status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F0E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Reason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tier (Shizuoka)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Misread as "basic = low quality" by 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tier (Shizuoka)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agricultural, lacks premium feel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Implies "best" — contradicts having a tier above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Decent, but Select communicates quality more directly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tier (Shizuoka)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"Carefully chosen" — quality-focused, no ceiling conflict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tier (Kagoshima)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Wine/spirits convention, intuitive for US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Prestige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tier (Uji, Kyoto)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Unmistakably top-tier, matches Uji heritage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3"/>
          <p:cNvSpPr/>
          <p:nvPr/>
        </p:nvSpPr>
        <p:spPr>
          <a:xfrm>
            <a:off x="1005840" y="4160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A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Are there other grade names we should consider? What impressions do these names give?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 LABEL TEXT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09968"/>
            <a:ext cx="2464972" cy="3007751"/>
          </a:xfrm>
          <a:prstGeom prst="rect">
            <a:avLst/>
          </a:prstGeom>
          <a:solidFill>
            <a:srgbClr val="111111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418491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B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Shizuoka, Japan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47091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Prestige Grade Matcha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75691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Tea Powder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8411" y="4289865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Wt. 1.4 oz (40g)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3320" y="1801368"/>
            <a:ext cx="320040" cy="0"/>
          </a:xfrm>
          <a:prstGeom prst="line">
            <a:avLst/>
          </a:prstGeom>
          <a:noFill/>
          <a:ln w="6350">
            <a:solidFill>
              <a:srgbClr val="C4A04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114800" y="1691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Identity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+ 静音 calligraphy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2715768"/>
            <a:ext cx="320040" cy="0"/>
          </a:xfrm>
          <a:prstGeom prst="line">
            <a:avLst/>
          </a:prstGeom>
          <a:noFill/>
          <a:ln w="6350">
            <a:solidFill>
              <a:srgbClr val="C4A044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114800" y="2606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"Shizuoka" communicates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"Japanese" without the word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03320" y="3172968"/>
            <a:ext cx="320040" cy="0"/>
          </a:xfrm>
          <a:prstGeom prst="line">
            <a:avLst/>
          </a:prstGeom>
          <a:noFill/>
          <a:ln w="6350">
            <a:solidFill>
              <a:srgbClr val="C4A04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114800" y="3063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 + Product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"Select Grade Matcha" — grade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product in one 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3630168"/>
            <a:ext cx="320040" cy="0"/>
          </a:xfrm>
          <a:prstGeom prst="line">
            <a:avLst/>
          </a:prstGeom>
          <a:noFill/>
          <a:ln w="6350">
            <a:solidFill>
              <a:srgbClr val="CC3333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11480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FDA Required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"Green Tea Powder" — Statement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Identity (bold, mandatory)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03320" y="4087368"/>
            <a:ext cx="320040" cy="0"/>
          </a:xfrm>
          <a:prstGeom prst="line">
            <a:avLst/>
          </a:prstGeom>
          <a:noFill/>
          <a:ln w="6350">
            <a:solidFill>
              <a:srgbClr val="CC3333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11480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FDA Required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"Net Wt." — bottom 30% of label,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size enforced</a:t>
            </a:r>
            <a:endParaRPr lang="en-US" sz="1000" dirty="0"/>
          </a:p>
        </p:txBody>
      </p:sp>
      <p:pic>
        <p:nvPicPr>
          <p:cNvPr id="27" name="図 26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A87C13B1-A268-919A-3126-E17CE8388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301" y="1999997"/>
            <a:ext cx="572085" cy="572085"/>
          </a:xfrm>
          <a:prstGeom prst="rect">
            <a:avLst/>
          </a:prstGeom>
        </p:spPr>
      </p:pic>
      <p:pic>
        <p:nvPicPr>
          <p:cNvPr id="29" name="図 28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9D79DFB5-647C-619F-4727-1DDBD74D8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828" y="1567919"/>
            <a:ext cx="2296743" cy="2296743"/>
          </a:xfrm>
          <a:prstGeom prst="rect">
            <a:avLst/>
          </a:prstGeom>
        </p:spPr>
      </p:pic>
      <p:pic>
        <p:nvPicPr>
          <p:cNvPr id="31" name="図 30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CA983CF9-7FC6-86C6-3E36-4B272D94B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67" y="2540281"/>
            <a:ext cx="1737529" cy="3475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PRODUCT TITLES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640080"/>
          </a:xfrm>
          <a:prstGeom prst="rect">
            <a:avLst/>
          </a:prstGeom>
          <a:solidFill>
            <a:srgbClr val="C4A044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6733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 - Shizuoka Select Grade - Green Tea Powder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94560"/>
            <a:ext cx="54864" cy="640080"/>
          </a:xfrm>
          <a:prstGeom prst="rect">
            <a:avLst/>
          </a:prstGeom>
          <a:solidFill>
            <a:srgbClr val="C4A044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2677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4963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 - Kagoshima Reserve Grade - Green Tea Powder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017520"/>
            <a:ext cx="54864" cy="640080"/>
          </a:xfrm>
          <a:prstGeom prst="rect">
            <a:avLst/>
          </a:prstGeom>
          <a:solidFill>
            <a:srgbClr val="C4A0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Prestige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3192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 - Uji Kyoto Prestige Grade - Green Tea Powder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solidFill>
            <a:srgbClr val="F0F7F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If Reserve Grade goes organic, title becomes: Shizune Matcha - Organic Kagoshima Reserve Grade - Green Tea Powder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A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How do these product names read? Any awkward phrasing or suggestions?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4A0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 Names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"Select," "Reserve," and "Prestige" clearly communicate a quality hierarchy to US consumers?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Titles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"Shizune Matcha - [Origin] [Grade] - Green Tea Powder" read naturally as an Amazon product name?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"Fine Japanese Matcha"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tagline under the brand name — does it enhance or clutter the label? Or is "Shizuoka, Japan" sufficient?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Copy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"Born in the shaded tea fields of Shizuoka, where time is measured in seasons." — Does this feel authentic or overwrought?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Impression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the naming and label text as a whole, what is your first impression of this brand?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754880"/>
            <a:ext cx="2286000" cy="27432"/>
          </a:xfrm>
          <a:prstGeom prst="rect">
            <a:avLst/>
          </a:prstGeom>
          <a:solidFill>
            <a:srgbClr val="C4A04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78C6A31F-01B6-3D82-7228-8236C3EFD23B}"/>
              </a:ext>
            </a:extLst>
          </p:cNvPr>
          <p:cNvSpPr/>
          <p:nvPr/>
        </p:nvSpPr>
        <p:spPr>
          <a:xfrm>
            <a:off x="739336" y="1172306"/>
            <a:ext cx="2464972" cy="3007751"/>
          </a:xfrm>
          <a:prstGeom prst="rect">
            <a:avLst/>
          </a:prstGeom>
          <a:solidFill>
            <a:srgbClr val="111111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360E1C5-59C7-238F-04FF-26EAD9C960E9}"/>
              </a:ext>
            </a:extLst>
          </p:cNvPr>
          <p:cNvSpPr/>
          <p:nvPr/>
        </p:nvSpPr>
        <p:spPr>
          <a:xfrm>
            <a:off x="922216" y="2980829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B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Uji, Kyoto, Japan</a:t>
            </a:r>
            <a:endParaRPr lang="en-US" sz="1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C35EA24-899E-BAC0-1AA5-CE680FBAD461}"/>
              </a:ext>
            </a:extLst>
          </p:cNvPr>
          <p:cNvSpPr/>
          <p:nvPr/>
        </p:nvSpPr>
        <p:spPr>
          <a:xfrm>
            <a:off x="922216" y="3209429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Prestige Grade Matcha</a:t>
            </a:r>
            <a:endParaRPr lang="en-US" sz="14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65D7813-CD82-2088-D466-77B855F18C33}"/>
              </a:ext>
            </a:extLst>
          </p:cNvPr>
          <p:cNvSpPr/>
          <p:nvPr/>
        </p:nvSpPr>
        <p:spPr>
          <a:xfrm>
            <a:off x="922216" y="3438029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Tea Powder</a:t>
            </a:r>
            <a:endParaRPr lang="en-US" sz="1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A08E9E9-1F40-9FF7-2BB0-5669C6D463AD}"/>
              </a:ext>
            </a:extLst>
          </p:cNvPr>
          <p:cNvSpPr/>
          <p:nvPr/>
        </p:nvSpPr>
        <p:spPr>
          <a:xfrm>
            <a:off x="786227" y="3852203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Wt. 1.4 oz (40g)</a:t>
            </a:r>
            <a:endParaRPr lang="en-US" sz="1100" dirty="0"/>
          </a:p>
        </p:txBody>
      </p:sp>
      <p:pic>
        <p:nvPicPr>
          <p:cNvPr id="13" name="図 12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C4939C80-6795-E66D-7DBB-EED5FFA4F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17" y="1562335"/>
            <a:ext cx="572085" cy="572085"/>
          </a:xfrm>
          <a:prstGeom prst="rect">
            <a:avLst/>
          </a:prstGeom>
        </p:spPr>
      </p:pic>
      <p:pic>
        <p:nvPicPr>
          <p:cNvPr id="14" name="図 1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FA7BCA8F-9E11-F670-BF34-E835608AD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83" y="2102619"/>
            <a:ext cx="1737529" cy="347506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BF11331-6843-0263-BCBF-92EFD97B7FF1}"/>
              </a:ext>
            </a:extLst>
          </p:cNvPr>
          <p:cNvSpPr txBox="1"/>
          <p:nvPr/>
        </p:nvSpPr>
        <p:spPr>
          <a:xfrm>
            <a:off x="922215" y="836246"/>
            <a:ext cx="964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OptionA</a:t>
            </a:r>
            <a:endParaRPr kumimoji="1" lang="ja-JP" altLang="en-US"/>
          </a:p>
        </p:txBody>
      </p:sp>
      <p:pic>
        <p:nvPicPr>
          <p:cNvPr id="16" name="図 15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C919A9E6-44EA-121C-686E-3CACBB342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599" y="1062697"/>
            <a:ext cx="2296743" cy="2296743"/>
          </a:xfrm>
          <a:prstGeom prst="rect">
            <a:avLst/>
          </a:prstGeom>
        </p:spPr>
      </p:pic>
      <p:sp>
        <p:nvSpPr>
          <p:cNvPr id="17" name="Shape 2">
            <a:extLst>
              <a:ext uri="{FF2B5EF4-FFF2-40B4-BE49-F238E27FC236}">
                <a16:creationId xmlns:a16="http://schemas.microsoft.com/office/drawing/2014/main" id="{381710C9-3EB1-6C52-4BF3-C667704EC0FD}"/>
              </a:ext>
            </a:extLst>
          </p:cNvPr>
          <p:cNvSpPr/>
          <p:nvPr/>
        </p:nvSpPr>
        <p:spPr>
          <a:xfrm>
            <a:off x="4291429" y="1172306"/>
            <a:ext cx="2464972" cy="3007751"/>
          </a:xfrm>
          <a:prstGeom prst="rect">
            <a:avLst/>
          </a:prstGeom>
          <a:solidFill>
            <a:srgbClr val="111111"/>
          </a:solidFill>
          <a:ln/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6B64A255-F571-91E4-EC43-C9A0421BB4A4}"/>
              </a:ext>
            </a:extLst>
          </p:cNvPr>
          <p:cNvSpPr/>
          <p:nvPr/>
        </p:nvSpPr>
        <p:spPr>
          <a:xfrm>
            <a:off x="4474309" y="2980829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B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Shizuoka, Japan</a:t>
            </a:r>
            <a:endParaRPr lang="en-US" sz="14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17E3AB42-9250-B8D7-FCBB-59630F089CAD}"/>
              </a:ext>
            </a:extLst>
          </p:cNvPr>
          <p:cNvSpPr/>
          <p:nvPr/>
        </p:nvSpPr>
        <p:spPr>
          <a:xfrm>
            <a:off x="4474309" y="3209429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Prestige Grade Matcha</a:t>
            </a:r>
            <a:endParaRPr lang="en-US" sz="14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5AC4D07F-8013-39E9-3E94-3193A3CC5340}"/>
              </a:ext>
            </a:extLst>
          </p:cNvPr>
          <p:cNvSpPr/>
          <p:nvPr/>
        </p:nvSpPr>
        <p:spPr>
          <a:xfrm>
            <a:off x="4474309" y="3438029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Tea Powder</a:t>
            </a:r>
            <a:endParaRPr lang="en-US" sz="14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618E01C-A8BE-0F0A-E68E-B4BE0F2B547F}"/>
              </a:ext>
            </a:extLst>
          </p:cNvPr>
          <p:cNvSpPr/>
          <p:nvPr/>
        </p:nvSpPr>
        <p:spPr>
          <a:xfrm>
            <a:off x="4338320" y="3852203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Wt. 1.4 oz (40g)</a:t>
            </a:r>
            <a:endParaRPr lang="en-US" sz="1100" dirty="0"/>
          </a:p>
        </p:txBody>
      </p:sp>
      <p:pic>
        <p:nvPicPr>
          <p:cNvPr id="22" name="図 21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49A2997B-F50E-6DD6-E8C5-4D0209666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210" y="1562335"/>
            <a:ext cx="572085" cy="572085"/>
          </a:xfrm>
          <a:prstGeom prst="rect">
            <a:avLst/>
          </a:prstGeom>
        </p:spPr>
      </p:pic>
      <p:pic>
        <p:nvPicPr>
          <p:cNvPr id="23" name="図 22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A6D3B031-1A2A-0AD9-2DF0-6A998FF95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176" y="2102619"/>
            <a:ext cx="1737529" cy="347506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46279D8-0CD7-93B5-42B3-1D179D4B9010}"/>
              </a:ext>
            </a:extLst>
          </p:cNvPr>
          <p:cNvSpPr txBox="1"/>
          <p:nvPr/>
        </p:nvSpPr>
        <p:spPr>
          <a:xfrm>
            <a:off x="4474308" y="836246"/>
            <a:ext cx="956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OptionB</a:t>
            </a:r>
            <a:endParaRPr kumimoji="1" lang="ja-JP" altLang="en-US"/>
          </a:p>
        </p:txBody>
      </p:sp>
      <p:pic>
        <p:nvPicPr>
          <p:cNvPr id="25" name="図 24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31717A69-DEC0-6185-E611-60D72C10F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692" y="1062697"/>
            <a:ext cx="2296743" cy="2296743"/>
          </a:xfrm>
          <a:prstGeom prst="rect">
            <a:avLst/>
          </a:prstGeom>
        </p:spPr>
      </p:pic>
      <p:sp>
        <p:nvSpPr>
          <p:cNvPr id="26" name="Text 5">
            <a:extLst>
              <a:ext uri="{FF2B5EF4-FFF2-40B4-BE49-F238E27FC236}">
                <a16:creationId xmlns:a16="http://schemas.microsoft.com/office/drawing/2014/main" id="{BAF2DA71-BF37-1ED9-A33A-B5017366B562}"/>
              </a:ext>
            </a:extLst>
          </p:cNvPr>
          <p:cNvSpPr/>
          <p:nvPr/>
        </p:nvSpPr>
        <p:spPr>
          <a:xfrm>
            <a:off x="4680884" y="2353056"/>
            <a:ext cx="1299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B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Japanese Matcha</a:t>
            </a:r>
            <a:endParaRPr lang="en-US" sz="10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9D26349-1F22-5F01-76FF-F098F454ED24}"/>
              </a:ext>
            </a:extLst>
          </p:cNvPr>
          <p:cNvSpPr/>
          <p:nvPr/>
        </p:nvSpPr>
        <p:spPr>
          <a:xfrm>
            <a:off x="481428" y="293077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Design Options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0949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F327E-A6CC-4FDF-568D-05B885653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1">
            <a:extLst>
              <a:ext uri="{FF2B5EF4-FFF2-40B4-BE49-F238E27FC236}">
                <a16:creationId xmlns:a16="http://schemas.microsoft.com/office/drawing/2014/main" id="{8900DBD0-041B-81D7-7F82-2AEDA54B1DFE}"/>
              </a:ext>
            </a:extLst>
          </p:cNvPr>
          <p:cNvSpPr/>
          <p:nvPr/>
        </p:nvSpPr>
        <p:spPr>
          <a:xfrm>
            <a:off x="481428" y="293077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Design</a:t>
            </a:r>
            <a:endParaRPr lang="en-US" sz="2800" dirty="0"/>
          </a:p>
        </p:txBody>
      </p:sp>
      <p:pic>
        <p:nvPicPr>
          <p:cNvPr id="7" name="図 6" descr="文字の書かれた紙&#10;&#10;AI 生成コンテンツは誤りを含む可能性があります。">
            <a:extLst>
              <a:ext uri="{FF2B5EF4-FFF2-40B4-BE49-F238E27FC236}">
                <a16:creationId xmlns:a16="http://schemas.microsoft.com/office/drawing/2014/main" id="{D040921E-12A0-4758-D795-55E097BCA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19" y="1047261"/>
            <a:ext cx="3736731" cy="3736731"/>
          </a:xfrm>
          <a:prstGeom prst="rect">
            <a:avLst/>
          </a:prstGeom>
        </p:spPr>
      </p:pic>
      <p:pic>
        <p:nvPicPr>
          <p:cNvPr id="29" name="図 28" descr="文字の書かれた紙&#10;&#10;AI 生成コンテンツは誤りを含む可能性があります。">
            <a:extLst>
              <a:ext uri="{FF2B5EF4-FFF2-40B4-BE49-F238E27FC236}">
                <a16:creationId xmlns:a16="http://schemas.microsoft.com/office/drawing/2014/main" id="{FC94D989-FBAA-B651-0124-B456FD0E4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634" y="1047260"/>
            <a:ext cx="3400669" cy="340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642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D1BB-70B6-106C-AEBD-680E11C33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1">
            <a:extLst>
              <a:ext uri="{FF2B5EF4-FFF2-40B4-BE49-F238E27FC236}">
                <a16:creationId xmlns:a16="http://schemas.microsoft.com/office/drawing/2014/main" id="{70D24DA2-7590-191D-585A-84F8FED74D8A}"/>
              </a:ext>
            </a:extLst>
          </p:cNvPr>
          <p:cNvSpPr/>
          <p:nvPr/>
        </p:nvSpPr>
        <p:spPr>
          <a:xfrm>
            <a:off x="481428" y="293077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Design</a:t>
            </a:r>
            <a:endParaRPr lang="en-US" sz="28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3FED867-9887-D80F-B93F-B32A36195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7" y="1417514"/>
            <a:ext cx="9063073" cy="259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550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59336-EF3D-9788-C7AC-235BA0F0C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1">
            <a:extLst>
              <a:ext uri="{FF2B5EF4-FFF2-40B4-BE49-F238E27FC236}">
                <a16:creationId xmlns:a16="http://schemas.microsoft.com/office/drawing/2014/main" id="{0F3D1EF4-B912-E560-E50D-7EEC0F312DEE}"/>
              </a:ext>
            </a:extLst>
          </p:cNvPr>
          <p:cNvSpPr/>
          <p:nvPr/>
        </p:nvSpPr>
        <p:spPr>
          <a:xfrm>
            <a:off x="481428" y="293077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A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Design</a:t>
            </a:r>
            <a:endParaRPr lang="en-US" sz="28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A77EC33-CC7A-87F1-EA1D-1ABAAE6714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58" t="24160" r="25318" b="21900"/>
          <a:stretch>
            <a:fillRect/>
          </a:stretch>
        </p:blipFill>
        <p:spPr>
          <a:xfrm>
            <a:off x="226645" y="836246"/>
            <a:ext cx="4689231" cy="420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07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816</Words>
  <Application>Microsoft Macintosh PowerPoint</Application>
  <PresentationFormat>画面に合わせる (16:9)</PresentationFormat>
  <Paragraphs>160</Paragraphs>
  <Slides>12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SHIZUNE Matcha - Product Naming Consultation</dc:title>
  <dc:subject>PptxGenJS Presentation</dc:subject>
  <dc:creator>SHIZUNE Matcha</dc:creator>
  <cp:lastModifiedBy>Hikaru Tashiro ISZJ</cp:lastModifiedBy>
  <cp:revision>4</cp:revision>
  <dcterms:created xsi:type="dcterms:W3CDTF">2026-03-18T01:14:46Z</dcterms:created>
  <dcterms:modified xsi:type="dcterms:W3CDTF">2026-03-18T04:19:09Z</dcterms:modified>
</cp:coreProperties>
</file>