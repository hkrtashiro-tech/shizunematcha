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5" r:id="rId5"/>
    <p:sldId id="266" r:id="rId6"/>
    <p:sldId id="259" r:id="rId7"/>
    <p:sldId id="268" r:id="rId8"/>
    <p:sldId id="260" r:id="rId9"/>
    <p:sldId id="261" r:id="rId10"/>
    <p:sldId id="262" r:id="rId11"/>
    <p:sldId id="263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>
        <p:scale>
          <a:sx n="184" d="100"/>
          <a:sy n="184" d="100"/>
        </p:scale>
        <p:origin x="640" y="1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591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844B7-CB99-62CD-A2A3-0E1BC2AC1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2F9D5F-467D-D71A-88B3-7E47383F8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59F6F-8F9B-2998-E738-C21352244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9FB79-7C95-1304-4042-42548A4B4D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72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5342B-E253-AB95-97B6-7FF871D73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853400-F23E-EC75-7514-9C4F0DD2BB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BE6630-160E-8DB6-8C25-A11E37FA0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3B472-6384-02CD-B563-E60D909EEA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7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15373-3F8B-1A55-637E-E6D878F93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07235A-24B3-84DC-7CC7-C160502AB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46030C-E49E-C51D-ED09-73028FC60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59396-252E-97B8-767D-03D95A9000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326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39B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800" dirty="0">
                <a:solidFill>
                  <a:srgbClr val="B39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SHIZUNE MATCHA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パッケージデザイン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修正依頼書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2286000" cy="0"/>
          </a:xfrm>
          <a:prstGeom prst="line">
            <a:avLst/>
          </a:prstGeom>
          <a:noFill/>
          <a:ln w="19050">
            <a:solidFill>
              <a:srgbClr val="B39B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4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Design Brief for Designers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2026年3月  |  Traverse Asia LLC  |  Confidential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B39B6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39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プロジェクト概要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74904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3749040" cy="41148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ブランド情報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ブランド名: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 MATCHA / 静音抹茶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事業主体: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Asia LLC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コンセプト: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静けさ・品・現代的日本性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タグライン: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Moment of Serenity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74904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97280"/>
            <a:ext cx="3749040" cy="41148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今回の依頼内容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グレード名の変更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Essential Grade → Select Grade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デザインリニューアル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日本らしさを押し出す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150" b="1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新商品展開への対応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3産地×3グレードの統一体系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80467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0690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現行の「Shizuoka Harvest Essential Grade Matcha」のパッケージをリニューアルし、今後ローンチする鹿児島（Reserve Grade）・宇治（Prestige Grade）を含む3商品の統一デザイン体系を構築する。Amazonレビューで「Essential Grade」の意味が誤解されていたため、グレード名も刷新する。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39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グレード体系（3商品）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560320" cy="3566160"/>
          </a:xfrm>
          <a:prstGeom prst="rect">
            <a:avLst/>
          </a:prstGeom>
          <a:solidFill>
            <a:srgbClr val="E8E4D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2560320" cy="54864"/>
          </a:xfrm>
          <a:prstGeom prst="rect">
            <a:avLst/>
          </a:prstGeom>
          <a:solidFill>
            <a:srgbClr val="B8B8B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Shizuoka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Grade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423160"/>
            <a:ext cx="18288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63040" y="2633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40g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063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プレミアムデイリー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厳選された良質な一杯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缶: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シルバー缶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ラベル: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白/クリーム系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0" y="1097280"/>
            <a:ext cx="2560320" cy="3566160"/>
          </a:xfrm>
          <a:prstGeom prst="rect">
            <a:avLst/>
          </a:prstGeom>
          <a:solidFill>
            <a:srgbClr val="D5E5D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1097280"/>
            <a:ext cx="2560320" cy="54864"/>
          </a:xfrm>
          <a:prstGeom prst="rect">
            <a:avLst/>
          </a:prstGeom>
          <a:solidFill>
            <a:srgbClr val="3D5A3E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325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Kagoshima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52044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Reserve Grade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520440" y="2423160"/>
            <a:ext cx="18288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297680" y="2633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40g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20440" y="3063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特選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より深い味わいと香り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2044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缶: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シルバー缶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ラベル: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緑系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1097280"/>
            <a:ext cx="2560320" cy="3566160"/>
          </a:xfrm>
          <a:prstGeom prst="rect">
            <a:avLst/>
          </a:prstGeom>
          <a:solidFill>
            <a:srgbClr val="1A1A1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B39B6E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1325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Uji, Kyoto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35508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39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Prestige Grade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55080" y="2423160"/>
            <a:ext cx="182880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132320" y="2633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40g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3063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4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最高峰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4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宇治の伝統と品格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缶: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黒缶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ラベル: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黒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7A4C5-F14A-D92D-8F45-8EF4FA463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C88188-95D3-8AF7-3D37-2ECBC386570B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F39CA5-B720-EEA5-A434-2028CFE32AB1}"/>
              </a:ext>
            </a:extLst>
          </p:cNvPr>
          <p:cNvSpPr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39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現在のパッケージ（40g）</a:t>
            </a:r>
          </a:p>
        </p:txBody>
      </p:sp>
      <p:pic>
        <p:nvPicPr>
          <p:cNvPr id="17" name="図 16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A7534C12-BD4D-A948-EB2F-F4EDE7216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390" y="960120"/>
            <a:ext cx="4950541" cy="3912186"/>
          </a:xfrm>
          <a:prstGeom prst="rect">
            <a:avLst/>
          </a:prstGeom>
        </p:spPr>
      </p:pic>
      <p:pic>
        <p:nvPicPr>
          <p:cNvPr id="19" name="図 18" descr="会社名&#10;&#10;AI 生成コンテンツは誤りを含む可能性があります。">
            <a:extLst>
              <a:ext uri="{FF2B5EF4-FFF2-40B4-BE49-F238E27FC236}">
                <a16:creationId xmlns:a16="http://schemas.microsoft.com/office/drawing/2014/main" id="{A3AD32E9-3A31-4A37-040E-F98111224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506" y="2179320"/>
            <a:ext cx="3595346" cy="98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086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9D4B7-0C9B-0780-3A75-F8A93B25B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8A5FBC-5A19-0344-1BAB-AB23A820A28A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EBA29E-8A56-7E0E-E230-31E321E7EAD0}"/>
              </a:ext>
            </a:extLst>
          </p:cNvPr>
          <p:cNvSpPr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39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現在のパッケージ（80g）</a:t>
            </a:r>
          </a:p>
        </p:txBody>
      </p:sp>
      <p:pic>
        <p:nvPicPr>
          <p:cNvPr id="5" name="図 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ABB1FF94-77C7-EE70-5A40-747F2E6C9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960120"/>
            <a:ext cx="7772400" cy="414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55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39B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39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デザインの方向性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新デザインコンセプト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 err="1">
                <a:solidFill>
                  <a:srgbClr val="B3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日本らしさを強調</a:t>
            </a:r>
            <a:endParaRPr lang="en-US" sz="1600" b="1" dirty="0">
              <a:solidFill>
                <a:srgbClr val="B39B6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日本の茶文化の「静けさ」とプレミアム感を両立させたモダンジャパニーズデザイン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137160" cy="137160"/>
          </a:xfrm>
          <a:prstGeom prst="rect">
            <a:avLst/>
          </a:prstGeom>
          <a:solidFill>
            <a:srgbClr val="B39B6E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「静音」筆書き書体をラベル正面の主要素とする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4105656"/>
            <a:ext cx="137160" cy="137160"/>
          </a:xfrm>
          <a:prstGeom prst="rect">
            <a:avLst/>
          </a:prstGeom>
          <a:solidFill>
            <a:srgbClr val="B39B6E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059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SHIZUNEロゴは現状の60〜70%に縮小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4416552"/>
            <a:ext cx="137160" cy="137160"/>
          </a:xfrm>
          <a:prstGeom prst="rect">
            <a:avLst/>
          </a:prstGeom>
          <a:solidFill>
            <a:srgbClr val="B39B6E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370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「Green Tea Powder」を正面に必ず記載（FDA要件）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4727448"/>
            <a:ext cx="137160" cy="137160"/>
          </a:xfrm>
          <a:prstGeom prst="rect">
            <a:avLst/>
          </a:prstGeom>
          <a:solidFill>
            <a:srgbClr val="B39B6E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6817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産地名とグレード名は統一フォーマットで配置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0" y="4800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現在のパッケージデザイン</a:t>
            </a:r>
            <a:endParaRPr lang="en-US" sz="800" dirty="0"/>
          </a:p>
        </p:txBody>
      </p:sp>
      <p:pic>
        <p:nvPicPr>
          <p:cNvPr id="26" name="図 25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F143A9E0-23E3-B599-BCB3-737DD49ED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716668"/>
            <a:ext cx="3474719" cy="3928484"/>
          </a:xfrm>
          <a:prstGeom prst="rect">
            <a:avLst/>
          </a:prstGeom>
        </p:spPr>
      </p:pic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3BA95786-E47D-0345-706E-C5E4492002CB}"/>
              </a:ext>
            </a:extLst>
          </p:cNvPr>
          <p:cNvSpPr/>
          <p:nvPr/>
        </p:nvSpPr>
        <p:spPr>
          <a:xfrm>
            <a:off x="5658338" y="3032369"/>
            <a:ext cx="1602154" cy="461108"/>
          </a:xfrm>
          <a:prstGeom prst="rect">
            <a:avLst/>
          </a:prstGeom>
          <a:solidFill>
            <a:srgbClr val="FBFD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3D016FE-8310-F95D-B507-C9DC04742977}"/>
              </a:ext>
            </a:extLst>
          </p:cNvPr>
          <p:cNvSpPr/>
          <p:nvPr/>
        </p:nvSpPr>
        <p:spPr>
          <a:xfrm>
            <a:off x="5658338" y="3451272"/>
            <a:ext cx="1602154" cy="200296"/>
          </a:xfrm>
          <a:prstGeom prst="rect">
            <a:avLst/>
          </a:prstGeom>
          <a:solidFill>
            <a:srgbClr val="FBFD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4CB5B26-303E-8F65-63A9-066F7D869727}"/>
              </a:ext>
            </a:extLst>
          </p:cNvPr>
          <p:cNvSpPr txBox="1"/>
          <p:nvPr/>
        </p:nvSpPr>
        <p:spPr>
          <a:xfrm>
            <a:off x="5658339" y="3092322"/>
            <a:ext cx="19460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>
                <a:latin typeface="HGPMinchoE" panose="02020900000000000000" pitchFamily="18" charset="-128"/>
                <a:ea typeface="HGPMinchoE" panose="02020900000000000000" pitchFamily="18" charset="-128"/>
              </a:rPr>
              <a:t>Shizuoka</a:t>
            </a:r>
          </a:p>
          <a:p>
            <a:r>
              <a:rPr kumimoji="1" lang="en-US" altLang="ja-JP" sz="1000" dirty="0">
                <a:latin typeface="HGPMinchoE" panose="02020900000000000000" pitchFamily="18" charset="-128"/>
                <a:ea typeface="HGPMinchoE" panose="02020900000000000000" pitchFamily="18" charset="-128"/>
              </a:rPr>
              <a:t>Select Grade Matcha</a:t>
            </a:r>
          </a:p>
          <a:p>
            <a:r>
              <a:rPr kumimoji="1" lang="en-US" altLang="ja-JP" sz="1000" dirty="0">
                <a:latin typeface="HGPMinchoE" panose="02020900000000000000" pitchFamily="18" charset="-128"/>
                <a:ea typeface="HGPMinchoE" panose="02020900000000000000" pitchFamily="18" charset="-128"/>
              </a:rPr>
              <a:t>Japanese Green Tea Powder</a:t>
            </a:r>
            <a:endParaRPr kumimoji="1" lang="ja-JP" altLang="en-US" sz="1000">
              <a:latin typeface="HGPMinchoE" panose="02020900000000000000" pitchFamily="18" charset="-128"/>
              <a:ea typeface="HGPMinchoE" panose="02020900000000000000" pitchFamily="18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19E85DA-6228-F51B-1814-EF535E2B7EE7}"/>
              </a:ext>
            </a:extLst>
          </p:cNvPr>
          <p:cNvSpPr txBox="1"/>
          <p:nvPr/>
        </p:nvSpPr>
        <p:spPr>
          <a:xfrm>
            <a:off x="6067865" y="4098450"/>
            <a:ext cx="194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 dirty="0">
                <a:latin typeface="HGPMinchoE" panose="02020900000000000000" pitchFamily="18" charset="-128"/>
                <a:ea typeface="HGPMinchoE" panose="02020900000000000000" pitchFamily="18" charset="-128"/>
              </a:rPr>
              <a:t>Net Wt. 1.4 oz (40g)</a:t>
            </a:r>
            <a:endParaRPr kumimoji="1" lang="ja-JP" altLang="en-US" sz="1000">
              <a:latin typeface="HGPMinchoE" panose="02020900000000000000" pitchFamily="18" charset="-128"/>
              <a:ea typeface="HGPMinchoE" panose="02020900000000000000" pitchFamily="18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A8DE0-D2BE-8790-8C53-A1FC0FA18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915DB4E-C679-6E33-AAA1-3333A54B8D1D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39B6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DE2D890-A2EB-BF69-2A03-B5F0C3FCE13E}"/>
              </a:ext>
            </a:extLst>
          </p:cNvPr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39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デザインの方向性</a:t>
            </a:r>
            <a:endParaRPr lang="en-US" sz="2200" dirty="0"/>
          </a:p>
        </p:txBody>
      </p:sp>
      <p:pic>
        <p:nvPicPr>
          <p:cNvPr id="27" name="図 26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26890F67-F809-3D3C-1B68-0AD62100DA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329" r="31785"/>
          <a:stretch>
            <a:fillRect/>
          </a:stretch>
        </p:blipFill>
        <p:spPr>
          <a:xfrm>
            <a:off x="557739" y="2742087"/>
            <a:ext cx="2414061" cy="2169721"/>
          </a:xfrm>
          <a:prstGeom prst="rect">
            <a:avLst/>
          </a:prstGeom>
        </p:spPr>
      </p:pic>
      <p:pic>
        <p:nvPicPr>
          <p:cNvPr id="18" name="図 17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70163F81-011F-EBA7-941E-34798FB8E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200" y="3094445"/>
            <a:ext cx="539262" cy="539262"/>
          </a:xfrm>
          <a:prstGeom prst="rect">
            <a:avLst/>
          </a:prstGeom>
        </p:spPr>
      </p:pic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7BAF43B-D275-F79B-43F6-D94B1E0ADAAB}"/>
              </a:ext>
            </a:extLst>
          </p:cNvPr>
          <p:cNvSpPr/>
          <p:nvPr/>
        </p:nvSpPr>
        <p:spPr>
          <a:xfrm>
            <a:off x="792201" y="3901266"/>
            <a:ext cx="1516185" cy="16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713114F5-9A62-B9B6-D20B-EBB062C70813}"/>
              </a:ext>
            </a:extLst>
          </p:cNvPr>
          <p:cNvSpPr/>
          <p:nvPr/>
        </p:nvSpPr>
        <p:spPr>
          <a:xfrm>
            <a:off x="557739" y="4166987"/>
            <a:ext cx="1544154" cy="5917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247D24E-4D0C-D061-9B91-941990888B02}"/>
              </a:ext>
            </a:extLst>
          </p:cNvPr>
          <p:cNvSpPr txBox="1"/>
          <p:nvPr/>
        </p:nvSpPr>
        <p:spPr>
          <a:xfrm>
            <a:off x="725264" y="3981106"/>
            <a:ext cx="151618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HGPMinchoE" panose="02020900000000000000" pitchFamily="18" charset="-128"/>
                <a:ea typeface="HGPMinchoE" panose="02020900000000000000" pitchFamily="18" charset="-128"/>
              </a:rPr>
              <a:t>Uji, Kyoto</a:t>
            </a:r>
          </a:p>
          <a:p>
            <a:r>
              <a:rPr kumimoji="1" lang="en-US" altLang="ja-JP" sz="1050" dirty="0">
                <a:solidFill>
                  <a:schemeClr val="accent4">
                    <a:lumMod val="20000"/>
                    <a:lumOff val="80000"/>
                  </a:schemeClr>
                </a:solidFill>
                <a:latin typeface="HGPMinchoE" panose="02020900000000000000" pitchFamily="18" charset="-128"/>
                <a:ea typeface="HGPMinchoE" panose="02020900000000000000" pitchFamily="18" charset="-128"/>
              </a:rPr>
              <a:t>Prestige Grade Matcha</a:t>
            </a:r>
          </a:p>
          <a:p>
            <a:r>
              <a:rPr kumimoji="1" lang="en-US" altLang="ja-JP" sz="1050" dirty="0">
                <a:solidFill>
                  <a:schemeClr val="accent4">
                    <a:lumMod val="20000"/>
                    <a:lumOff val="80000"/>
                  </a:schemeClr>
                </a:solidFill>
                <a:latin typeface="HGPMinchoE" panose="02020900000000000000" pitchFamily="18" charset="-128"/>
                <a:ea typeface="HGPMinchoE" panose="02020900000000000000" pitchFamily="18" charset="-128"/>
              </a:rPr>
              <a:t>Green Tea Powder</a:t>
            </a:r>
            <a:endParaRPr kumimoji="1" lang="ja-JP" altLang="en-US" sz="1050">
              <a:solidFill>
                <a:schemeClr val="accent4">
                  <a:lumMod val="20000"/>
                  <a:lumOff val="80000"/>
                </a:schemeClr>
              </a:solidFill>
              <a:latin typeface="HGPMinchoE" panose="02020900000000000000" pitchFamily="18" charset="-128"/>
              <a:ea typeface="HGPMinchoE" panose="02020900000000000000" pitchFamily="18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992FCEE-E8EF-FCB3-AB38-3367809C8FC3}"/>
              </a:ext>
            </a:extLst>
          </p:cNvPr>
          <p:cNvSpPr txBox="1"/>
          <p:nvPr/>
        </p:nvSpPr>
        <p:spPr>
          <a:xfrm>
            <a:off x="694510" y="4555715"/>
            <a:ext cx="1946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50" dirty="0">
                <a:solidFill>
                  <a:schemeClr val="accent4">
                    <a:lumMod val="20000"/>
                    <a:lumOff val="80000"/>
                  </a:schemeClr>
                </a:solidFill>
                <a:latin typeface="HGPMinchoE" panose="02020900000000000000" pitchFamily="18" charset="-128"/>
                <a:ea typeface="HGPMinchoE" panose="02020900000000000000" pitchFamily="18" charset="-128"/>
              </a:rPr>
              <a:t>Net Wt. 1.4 oz (40g)</a:t>
            </a:r>
            <a:endParaRPr kumimoji="1" lang="ja-JP" altLang="en-US" sz="1050">
              <a:solidFill>
                <a:schemeClr val="accent4">
                  <a:lumMod val="20000"/>
                  <a:lumOff val="80000"/>
                </a:schemeClr>
              </a:solidFill>
              <a:latin typeface="HGPMinchoE" panose="02020900000000000000" pitchFamily="18" charset="-128"/>
              <a:ea typeface="HGPMinchoE" panose="02020900000000000000" pitchFamily="18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F1B3F58-DCD2-FA6D-3927-519BC7002A85}"/>
              </a:ext>
            </a:extLst>
          </p:cNvPr>
          <p:cNvSpPr/>
          <p:nvPr/>
        </p:nvSpPr>
        <p:spPr>
          <a:xfrm>
            <a:off x="804883" y="2821849"/>
            <a:ext cx="2097472" cy="813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CD5A892F-A647-7FD7-BF98-526038349A68}"/>
              </a:ext>
            </a:extLst>
          </p:cNvPr>
          <p:cNvSpPr/>
          <p:nvPr/>
        </p:nvSpPr>
        <p:spPr>
          <a:xfrm>
            <a:off x="2334779" y="2954669"/>
            <a:ext cx="539262" cy="18041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E9864D8C-8326-D40B-82B5-F47569575B6E}"/>
              </a:ext>
            </a:extLst>
          </p:cNvPr>
          <p:cNvSpPr/>
          <p:nvPr/>
        </p:nvSpPr>
        <p:spPr>
          <a:xfrm>
            <a:off x="644494" y="3366805"/>
            <a:ext cx="1946029" cy="5917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8334F740-0EA8-9A21-8E71-FA36EC6C9815}"/>
              </a:ext>
            </a:extLst>
          </p:cNvPr>
          <p:cNvSpPr/>
          <p:nvPr/>
        </p:nvSpPr>
        <p:spPr>
          <a:xfrm>
            <a:off x="2119128" y="3557101"/>
            <a:ext cx="503912" cy="8818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0" name="図 39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DCBDE8BB-5AEE-F7B4-A33A-AB1BA44F8E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6649" y="2557098"/>
            <a:ext cx="2277636" cy="2277636"/>
          </a:xfrm>
          <a:prstGeom prst="rect">
            <a:avLst/>
          </a:prstGeom>
        </p:spPr>
      </p:pic>
      <p:pic>
        <p:nvPicPr>
          <p:cNvPr id="42" name="図 41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94B77182-36A0-E202-E84B-8CA26066C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009" y="3108016"/>
            <a:ext cx="598810" cy="598810"/>
          </a:xfrm>
          <a:prstGeom prst="rect">
            <a:avLst/>
          </a:prstGeom>
        </p:spPr>
      </p:pic>
      <p:pic>
        <p:nvPicPr>
          <p:cNvPr id="44" name="図 43" descr="テキスト, 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9B41050F-CF69-569C-FE59-79A610E5D4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494" y="3637352"/>
            <a:ext cx="1784197" cy="356839"/>
          </a:xfrm>
          <a:prstGeom prst="rect">
            <a:avLst/>
          </a:prstGeom>
        </p:spPr>
      </p:pic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A1DE0C6B-C756-E4B9-0B53-9E05B5B5C4DD}"/>
              </a:ext>
            </a:extLst>
          </p:cNvPr>
          <p:cNvSpPr txBox="1"/>
          <p:nvPr/>
        </p:nvSpPr>
        <p:spPr>
          <a:xfrm>
            <a:off x="557739" y="2325865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40g</a:t>
            </a:r>
            <a:r>
              <a:rPr kumimoji="1" lang="ja-JP" altLang="en-US"/>
              <a:t>缶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92D3518F-BCCC-DCF8-8080-9B9E40BC4FE9}"/>
              </a:ext>
            </a:extLst>
          </p:cNvPr>
          <p:cNvSpPr txBox="1"/>
          <p:nvPr/>
        </p:nvSpPr>
        <p:spPr>
          <a:xfrm>
            <a:off x="4554872" y="1204665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40g</a:t>
            </a:r>
            <a:r>
              <a:rPr kumimoji="1" lang="ja-JP" altLang="en-US"/>
              <a:t>化粧箱</a:t>
            </a:r>
          </a:p>
        </p:txBody>
      </p: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34046297-9A57-B753-5A84-4A6CC8C54550}"/>
              </a:ext>
            </a:extLst>
          </p:cNvPr>
          <p:cNvGrpSpPr/>
          <p:nvPr/>
        </p:nvGrpSpPr>
        <p:grpSpPr>
          <a:xfrm>
            <a:off x="4589129" y="1634836"/>
            <a:ext cx="2359419" cy="3276972"/>
            <a:chOff x="2338745" y="1546219"/>
            <a:chExt cx="2681759" cy="3279010"/>
          </a:xfrm>
        </p:grpSpPr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A8F79344-2001-BF2F-1ACD-DA97B91F4B4F}"/>
                </a:ext>
              </a:extLst>
            </p:cNvPr>
            <p:cNvSpPr/>
            <p:nvPr/>
          </p:nvSpPr>
          <p:spPr>
            <a:xfrm>
              <a:off x="2338745" y="1546219"/>
              <a:ext cx="2681759" cy="32790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7DE1FA92-0A9A-0035-8FEC-9EEC9B701CF6}"/>
                </a:ext>
              </a:extLst>
            </p:cNvPr>
            <p:cNvSpPr txBox="1"/>
            <p:nvPr/>
          </p:nvSpPr>
          <p:spPr>
            <a:xfrm>
              <a:off x="2483188" y="3631077"/>
              <a:ext cx="196640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b="1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HGPMinchoE" panose="02020900000000000000" pitchFamily="18" charset="-128"/>
                  <a:ea typeface="HGPMinchoE" panose="02020900000000000000" pitchFamily="18" charset="-128"/>
                </a:rPr>
                <a:t>Uji, Kyoto</a:t>
              </a:r>
            </a:p>
            <a:p>
              <a:r>
                <a:rPr kumimoji="1" lang="en-US" altLang="ja-JP" sz="120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HGPMinchoE" panose="02020900000000000000" pitchFamily="18" charset="-128"/>
                  <a:ea typeface="HGPMinchoE" panose="02020900000000000000" pitchFamily="18" charset="-128"/>
                </a:rPr>
                <a:t>Prestige Grade Matcha</a:t>
              </a:r>
            </a:p>
            <a:p>
              <a:r>
                <a:rPr kumimoji="1" lang="en-US" altLang="ja-JP" sz="120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HGPMinchoE" panose="02020900000000000000" pitchFamily="18" charset="-128"/>
                  <a:ea typeface="HGPMinchoE" panose="02020900000000000000" pitchFamily="18" charset="-128"/>
                </a:rPr>
                <a:t>Green Tea Powder</a:t>
              </a:r>
              <a:endParaRPr kumimoji="1" lang="ja-JP" altLang="en-US" sz="1200">
                <a:solidFill>
                  <a:schemeClr val="accent4">
                    <a:lumMod val="20000"/>
                    <a:lumOff val="80000"/>
                  </a:schemeClr>
                </a:solidFill>
                <a:latin typeface="HGPMinchoE" panose="02020900000000000000" pitchFamily="18" charset="-128"/>
                <a:ea typeface="HGPMinchoE" panose="02020900000000000000" pitchFamily="18" charset="-128"/>
              </a:endParaRPr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4AB0E860-4E20-70CE-F636-270FFD1EF398}"/>
                </a:ext>
              </a:extLst>
            </p:cNvPr>
            <p:cNvSpPr txBox="1"/>
            <p:nvPr/>
          </p:nvSpPr>
          <p:spPr>
            <a:xfrm>
              <a:off x="2706608" y="4383178"/>
              <a:ext cx="19460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05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HGPMinchoE" panose="02020900000000000000" pitchFamily="18" charset="-128"/>
                  <a:ea typeface="HGPMinchoE" panose="02020900000000000000" pitchFamily="18" charset="-128"/>
                </a:rPr>
                <a:t>Net Wt. 1.4 oz (40g)</a:t>
              </a:r>
              <a:endParaRPr kumimoji="1" lang="ja-JP" altLang="en-US" sz="1050">
                <a:solidFill>
                  <a:schemeClr val="accent4">
                    <a:lumMod val="20000"/>
                    <a:lumOff val="80000"/>
                  </a:schemeClr>
                </a:solidFill>
                <a:latin typeface="HGPMinchoE" panose="02020900000000000000" pitchFamily="18" charset="-128"/>
                <a:ea typeface="HGPMinchoE" panose="02020900000000000000" pitchFamily="18" charset="-128"/>
              </a:endParaRPr>
            </a:p>
          </p:txBody>
        </p:sp>
      </p:grpSp>
      <p:pic>
        <p:nvPicPr>
          <p:cNvPr id="55" name="図 54" descr="テキスト, 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B02A4E48-5238-DE81-1253-94FB4FD91E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055" y="2871898"/>
            <a:ext cx="1784197" cy="356839"/>
          </a:xfrm>
          <a:prstGeom prst="rect">
            <a:avLst/>
          </a:prstGeom>
        </p:spPr>
      </p:pic>
      <p:pic>
        <p:nvPicPr>
          <p:cNvPr id="56" name="図 55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910D12F9-99F6-D57C-8D3D-B11417DE63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2779" y="1545182"/>
            <a:ext cx="2976764" cy="2976764"/>
          </a:xfrm>
          <a:prstGeom prst="rect">
            <a:avLst/>
          </a:prstGeom>
        </p:spPr>
      </p:pic>
      <p:pic>
        <p:nvPicPr>
          <p:cNvPr id="54" name="図 53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F08FF1C1-A436-8536-C60A-8097B9BD5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9748" y="2319869"/>
            <a:ext cx="598810" cy="59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97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39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視覚的優先順位（ラベル正面）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solidFill>
            <a:srgbClr val="1A1A1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39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1704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「静音」筆文字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0" y="12070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ラベル正面のヒーロー要素。日本らしさの象徴として、遠くからでも目に入るサイズで配置する。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8046720" cy="822960"/>
          </a:xfrm>
          <a:prstGeom prst="rect">
            <a:avLst/>
          </a:prstGeom>
          <a:solidFill>
            <a:srgbClr val="3A342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39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2130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MATCHA / Green Tea Powder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0" y="216712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米国消費者に「何の商品か」を伝える最重要テキスト。FDA規制上、正面パネルに明確に表示が必要。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71600" y="30906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SHIZUNEロゴ + テキスト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小〜中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0" y="312724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ブランドの署名的な役割。現状の60〜70%に縮小し、「静音」筆文字を引き立てる。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solidFill>
            <a:srgbClr val="E8E4D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371600" y="40507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産地・グレード・内容量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434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0" y="40873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Shizuoka / Select Grade Matcha / Net Wt. 1.4 oz (40g) などの詳細情報。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上記の優先順位はラベル正面のレイアウトに適用。側面・背面は規制情報を優先。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39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缶・ラベル仕様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24688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項目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/ Reserve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Prestige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缶の色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シルバー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蓋の色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シルバー（蓋＝缶と一体）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黒（蓋＝缶と一体）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蓋のロゴ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ゴールド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ゴールド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ラベル形式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フルラップ（側面全体を覆う）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フルラップ（側面全体を覆う）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ラベル色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Selectは白/クリーム系、Reserveは緑系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4048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840480"/>
            <a:ext cx="73152" cy="1097280"/>
          </a:xfrm>
          <a:prstGeom prst="rect">
            <a:avLst/>
          </a:prstGeom>
          <a:solidFill>
            <a:srgbClr val="B39B6E"/>
          </a:solidFill>
          <a:ln/>
        </p:spPr>
      </p:sp>
      <p:sp>
        <p:nvSpPr>
          <p:cNvPr id="4" name="Text 4"/>
          <p:cNvSpPr/>
          <p:nvPr/>
        </p:nvSpPr>
        <p:spPr>
          <a:xfrm>
            <a:off x="82296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重要ポイント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42062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缶の色を変える＝蓋の色も変わる（一体型のため）。缶のSKUは2種類（シルバー・黒）で管理。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ラベルがフルラップのため、缶本体の色は側面からは見えない。蓋部分のみ缶の地色が露出する。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Prestige（黒缶）のみ別格感を演出。将来的に鹿児島の売上が安定すれば、緑缶への移行も検討可。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39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SKU別デザイン仕様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743200" cy="640080"/>
          </a:xfrm>
          <a:prstGeom prst="rect">
            <a:avLst/>
          </a:prstGeom>
          <a:solidFill>
            <a:srgbClr val="B8B8B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Shizuoka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Grade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缶: シルバー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ラベル: 白/クリーム × ゴールド文字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「静音」筆文字: ゴールド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SHIZUNEロゴ: ゴールド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657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パッケージ表示: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Shizuoka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Select Grade Matcha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Green Tea Powder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114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Wt. 1.4 oz (40g)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743200" cy="3749040"/>
          </a:xfrm>
          <a:prstGeom prst="rect">
            <a:avLst/>
          </a:prstGeom>
          <a:solidFill>
            <a:srgbClr val="EFF5E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51560"/>
            <a:ext cx="2743200" cy="640080"/>
          </a:xfrm>
          <a:prstGeom prst="rect">
            <a:avLst/>
          </a:prstGeom>
          <a:solidFill>
            <a:srgbClr val="3D5A3E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097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Kagoshima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Reserve Grade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缶: シルバー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ラベル: 緑系 × ゴールド文字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「静音」筆文字: ゴールド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SHIZUNEロゴ: ゴールド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3657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パッケージ表示: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Kagoshima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Reserve Grade Matcha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Green Tea Powder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4114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Wt. 1.4 oz (40g)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051560"/>
            <a:ext cx="2743200" cy="374904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051560"/>
            <a:ext cx="2743200" cy="640080"/>
          </a:xfrm>
          <a:prstGeom prst="rect">
            <a:avLst/>
          </a:prstGeom>
          <a:solidFill>
            <a:srgbClr val="B39B6E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1097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Uji, Kyoto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Prestige Grade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缶: 黒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ラベル: 黒 × ゴールド文字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「静音」筆文字: ゴールド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SHIZUNEロゴ: ゴールド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3657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パッケージ表示: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Uji, Kyoto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Prestige Grade Matcha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Green Tea Powder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4114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Wt. 1.4 oz (40g)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39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移行スケジュール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25880" y="2103120"/>
            <a:ext cx="36576" cy="27432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1188720" cy="822960"/>
          </a:xfrm>
          <a:prstGeom prst="ellipse">
            <a:avLst/>
          </a:prstGeom>
          <a:solidFill>
            <a:srgbClr val="B8B8B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2344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94560" y="1051560"/>
            <a:ext cx="6400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194560" y="1051560"/>
            <a:ext cx="54864" cy="1097280"/>
          </a:xfrm>
          <a:prstGeom prst="rect">
            <a:avLst/>
          </a:prstGeom>
          <a:solidFill>
            <a:srgbClr val="B8B8B8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097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現行パッケージで販売継続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141732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Amazonタイトルは「Essential Grade」のまま維持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A+コンテンツ・商品説明で「Select Grade」の表現を徐々に導入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パッケージ表記とタイトルの一致を維持（Amazonポリシー遵守）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325880" y="3429000"/>
            <a:ext cx="36576" cy="27432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514600"/>
            <a:ext cx="1188720" cy="822960"/>
          </a:xfrm>
          <a:prstGeom prst="ellipse">
            <a:avLst/>
          </a:prstGeom>
          <a:solidFill>
            <a:srgbClr val="3D5A3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56032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次回製造ロット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94560" y="2377440"/>
            <a:ext cx="6400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94560" y="2377440"/>
            <a:ext cx="54864" cy="1097280"/>
          </a:xfrm>
          <a:prstGeom prst="rect">
            <a:avLst/>
          </a:prstGeom>
          <a:solidFill>
            <a:srgbClr val="3D5A3E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24231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新パッケージに切り替え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68880" y="27432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缶ラベル・化粧箱を「Select Grade」に更新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ブラック×ゴールドのデザインリニューアル適用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鹿児島・宇治パッケージも同時制作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1188720" cy="822960"/>
          </a:xfrm>
          <a:prstGeom prst="ellipse">
            <a:avLst/>
          </a:prstGeom>
          <a:solidFill>
            <a:srgbClr val="B39B6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8862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在庫切替完了時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94560" y="3703320"/>
            <a:ext cx="6400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194560" y="3703320"/>
            <a:ext cx="54864" cy="1097280"/>
          </a:xfrm>
          <a:prstGeom prst="rect">
            <a:avLst/>
          </a:prstGeom>
          <a:solidFill>
            <a:srgbClr val="B39B6E"/>
          </a:solidFill>
          <a:ln/>
        </p:spPr>
      </p:sp>
      <p:sp>
        <p:nvSpPr>
          <p:cNvPr id="22" name="Text 20"/>
          <p:cNvSpPr/>
          <p:nvPr/>
        </p:nvSpPr>
        <p:spPr>
          <a:xfrm>
            <a:off x="2468880" y="3749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Amazon・全チャネルを統一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468880" y="406908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Grade在庫がなくなり次第、Amazonタイトルを変更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3商品（Select / Reserve / Prestige）を統一ブランド体系でローンチ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Shopify・全チャネルのブランド表現も刷新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39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注意事項・規制要件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3840480" cy="411480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FDA規制要件（必須）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正面パネルに必須の表示: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Common/Usual Name（一般名称）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「Green Tea Powder」を明記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Net Weight（内容量）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「Net Wt. 1.4 oz (40g)」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読みやすいフォントサイズで記載すること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84048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840480" cy="41148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デザイン上の注意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3商品の統一感を最優先にすること。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産地名・グレード名の差し替えだけで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各SKUのラベルが成立する設計にする。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「静音」の筆文字は既存アセットを使用。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書体の変更・加工は不可。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化粧箱も同時にリニューアルする。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缶ラベルとデザインを統一すること。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納品物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缶ラベルデザイン × 3種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(Shizuoka Select / Kagoshima Reserve / Uji Prestige)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化粧箱デザイン × 3種（缶ラベルと統一デザイン）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缶蓋ロゴデザイン × 2種（シルバー蓋用・黒蓋用）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2729</TotalTime>
  <Words>849</Words>
  <Application>Microsoft Macintosh PowerPoint</Application>
  <PresentationFormat>画面に合わせる (16:9)</PresentationFormat>
  <Paragraphs>206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HGPMinchoE</vt:lpstr>
      <vt:lpstr>Arial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パッケージデザイン修正依頼書</dc:title>
  <dc:subject>PptxGenJS Presentation</dc:subject>
  <dc:creator>SHIZUNE MATCHA</dc:creator>
  <cp:lastModifiedBy>Hikaru Tashiro ISZJ</cp:lastModifiedBy>
  <cp:revision>6</cp:revision>
  <dcterms:created xsi:type="dcterms:W3CDTF">2026-03-15T02:15:09Z</dcterms:created>
  <dcterms:modified xsi:type="dcterms:W3CDTF">2026-03-17T02:10:33Z</dcterms:modified>
</cp:coreProperties>
</file>